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73" r:id="rId1"/>
  </p:sldMasterIdLst>
  <p:notesMasterIdLst>
    <p:notesMasterId r:id="rId25"/>
  </p:notesMasterIdLst>
  <p:sldIdLst>
    <p:sldId id="256" r:id="rId2"/>
    <p:sldId id="258" r:id="rId3"/>
    <p:sldId id="259" r:id="rId4"/>
    <p:sldId id="262" r:id="rId5"/>
    <p:sldId id="261" r:id="rId6"/>
    <p:sldId id="260" r:id="rId7"/>
    <p:sldId id="274" r:id="rId8"/>
    <p:sldId id="263" r:id="rId9"/>
    <p:sldId id="275" r:id="rId10"/>
    <p:sldId id="276" r:id="rId11"/>
    <p:sldId id="277" r:id="rId12"/>
    <p:sldId id="264" r:id="rId13"/>
    <p:sldId id="272" r:id="rId14"/>
    <p:sldId id="273" r:id="rId15"/>
    <p:sldId id="267" r:id="rId16"/>
    <p:sldId id="268" r:id="rId17"/>
    <p:sldId id="278" r:id="rId18"/>
    <p:sldId id="270" r:id="rId19"/>
    <p:sldId id="279" r:id="rId20"/>
    <p:sldId id="280" r:id="rId21"/>
    <p:sldId id="282" r:id="rId22"/>
    <p:sldId id="281" r:id="rId23"/>
    <p:sldId id="26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55D17E-2EB0-4471-BA66-DB6F49912324}" v="15" dt="2024-07-24T14:52:03.400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D4D9E-59C0-44AE-A3A4-A86C0C9355D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CBC09-63B4-459F-A24D-A63BE567E02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3600" cap="all" baseline="0">
                <a:solidFill>
                  <a:schemeClr val="tx2"/>
                </a:solidFill>
                <a:latin typeface="Century" panose="020406040505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12" y="3956287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9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301A04E-CBD9-4689-8926-23FC9D018504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60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Individual Mechatronic Design Project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752862" y="744476"/>
            <a:ext cx="1067411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</p:grpSp>
      <p:pic>
        <p:nvPicPr>
          <p:cNvPr id="10" name="Picture 9" descr="A logo of a military insignia&#10;&#10;Description automatically generated">
            <a:extLst>
              <a:ext uri="{FF2B5EF4-FFF2-40B4-BE49-F238E27FC236}">
                <a16:creationId xmlns:a16="http://schemas.microsoft.com/office/drawing/2014/main" id="{E75532A5-30BD-6122-ED95-455699ED18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4256" y="0"/>
            <a:ext cx="1712228" cy="171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2269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B56D-5955-404B-A1BD-C9ACD737899A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Mechatronic Design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80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8"/>
            <a:ext cx="9612971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13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855792-6AA0-462B-ABEE-FC6F4209A2D3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7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Individual Mechatronic Design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9DACFC-88C4-41F1-9CCA-CC7DE6A6234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8151963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8151963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</p:spTree>
    <p:extLst>
      <p:ext uri="{BB962C8B-B14F-4D97-AF65-F5344CB8AC3E}">
        <p14:creationId xmlns:p14="http://schemas.microsoft.com/office/powerpoint/2010/main" val="26088575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1" y="2286002"/>
            <a:ext cx="4447787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5" y="2286002"/>
            <a:ext cx="4447787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CED86-944E-4DC5-A16F-6424B6718989}" type="datetime1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Mechatronic Design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682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1" y="2340230"/>
            <a:ext cx="4447787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3" y="3305215"/>
            <a:ext cx="4447785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3" y="2349754"/>
            <a:ext cx="4447787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3" y="3305215"/>
            <a:ext cx="4447787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9A65-E80A-425B-8C9A-E5C2687A27A4}" type="datetime1">
              <a:rPr lang="en-US" smtClean="0"/>
              <a:t>8/29/2025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Mechatronic Design Project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10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F0655-3599-4B7D-995A-54119027EE6D}" type="datetime1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Mechatronic Design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565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1F263-95D9-42DD-BD6F-DC6EB6C83090}" type="datetime1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Mechatronic Design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41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3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CFB44E3-CF6F-4905-9D80-FE88B78357D3}" type="datetime1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Individual Mechatronic Design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9DACFC-88C4-41F1-9CCA-CC7DE6A6234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14843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4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3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F9B0CE0-D1F3-47C4-8426-665DE89186BB}" type="datetime1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Individual Mechatronic Design Project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9DACFC-88C4-41F1-9CCA-CC7DE6A6234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90926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8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F649-0449-4ABB-8688-A15CCCCEBA3A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Mechatronic Design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884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74396" y="624156"/>
            <a:ext cx="1987933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2" y="624156"/>
            <a:ext cx="7632700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25F56-A5FE-4332-9745-40296885DEAA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Mechatronic Design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496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fld id="{7D8366FB-04D3-4CAF-9C85-76EAEE8F80A2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9" y="6453386"/>
            <a:ext cx="6280831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Individual Mechatronic Design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9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C59DACFC-88C4-41F1-9CCA-CC7DE6A6234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15890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/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ijstr.org/final-print/mar2020/Design-And-Development-Of-Android-controlled-Grass-Cutting-Robot-Using-Rpa-Method.pdf" TargetMode="External"/><Relationship Id="rId7" Type="http://schemas.openxmlformats.org/officeDocument/2006/relationships/hyperlink" Target="https://www.handsontec.com/dataspecs/17HS4401S.pdf" TargetMode="External"/><Relationship Id="rId2" Type="http://schemas.openxmlformats.org/officeDocument/2006/relationships/hyperlink" Target="https://doi.org/10.1007/978-981-19-2281-7_7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16/0021-8634(86)90033-8" TargetMode="External"/><Relationship Id="rId5" Type="http://schemas.openxmlformats.org/officeDocument/2006/relationships/hyperlink" Target="https://doi.org/10.2989/10220111003703542" TargetMode="External"/><Relationship Id="rId4" Type="http://schemas.openxmlformats.org/officeDocument/2006/relationships/hyperlink" Target="https://doi.org/10.46382/mjbas.2023.720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Autonomous grass-cutting robot</a:t>
            </a:r>
            <a:br>
              <a:rPr lang="en-GB" dirty="0"/>
            </a:br>
            <a:r>
              <a:rPr lang="en-GB" sz="2000" dirty="0"/>
              <a:t>with obstacle avoidance and remote Controlling</a:t>
            </a:r>
            <a:endParaRPr lang="en-US" sz="2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R.V.B. Sansindi</a:t>
            </a:r>
          </a:p>
          <a:p>
            <a:r>
              <a:rPr lang="en-GB" dirty="0"/>
              <a:t>D/ENG/23/0152/MC</a:t>
            </a:r>
          </a:p>
          <a:p>
            <a:r>
              <a:rPr lang="en-GB" dirty="0"/>
              <a:t>STREAM : MC</a:t>
            </a:r>
          </a:p>
          <a:p>
            <a:r>
              <a:rPr lang="en-GB" dirty="0"/>
              <a:t>Final Presentation of Individual Mechatronic Design Project</a:t>
            </a:r>
            <a:endParaRPr lang="en-US" alt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796981" y="717483"/>
            <a:ext cx="7200900" cy="881149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entury" panose="02040604050505020304" pitchFamily="18" charset="0"/>
              </a:rPr>
              <a:t>Content of the Presentation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436617" y="2067493"/>
            <a:ext cx="7767501" cy="3632449"/>
          </a:xfrm>
        </p:spPr>
        <p:txBody>
          <a:bodyPr>
            <a:normAutofit fontScale="85000" lnSpcReduction="20000"/>
          </a:bodyPr>
          <a:lstStyle/>
          <a:p>
            <a:r>
              <a:rPr lang="en-US" sz="2100" dirty="0">
                <a:latin typeface="Century" panose="02040604050505020304" pitchFamily="18" charset="0"/>
              </a:rPr>
              <a:t>Introduction</a:t>
            </a:r>
            <a:endParaRPr lang="en-GB" dirty="0">
              <a:latin typeface="Century" panose="02040604050505020304" pitchFamily="18" charset="0"/>
            </a:endParaRPr>
          </a:p>
          <a:p>
            <a:r>
              <a:rPr lang="en-GB" dirty="0">
                <a:latin typeface="Century" panose="02040604050505020304" pitchFamily="18" charset="0"/>
              </a:rPr>
              <a:t>Aim</a:t>
            </a:r>
          </a:p>
          <a:p>
            <a:r>
              <a:rPr lang="en-GB" dirty="0">
                <a:latin typeface="Century" panose="02040604050505020304" pitchFamily="18" charset="0"/>
              </a:rPr>
              <a:t>Objectives</a:t>
            </a:r>
          </a:p>
          <a:p>
            <a:r>
              <a:rPr lang="en-GB" dirty="0">
                <a:latin typeface="Century" panose="02040604050505020304" pitchFamily="18" charset="0"/>
              </a:rPr>
              <a:t>Literature Review</a:t>
            </a:r>
          </a:p>
          <a:p>
            <a:r>
              <a:rPr lang="en-GB" dirty="0">
                <a:latin typeface="Century" panose="02040604050505020304" pitchFamily="18" charset="0"/>
              </a:rPr>
              <a:t>Methodology</a:t>
            </a:r>
          </a:p>
          <a:p>
            <a:r>
              <a:rPr lang="en-GB" dirty="0">
                <a:latin typeface="Century" panose="02040604050505020304" pitchFamily="18" charset="0"/>
              </a:rPr>
              <a:t>Mechanical Design</a:t>
            </a:r>
          </a:p>
          <a:p>
            <a:r>
              <a:rPr lang="en-GB" dirty="0">
                <a:latin typeface="Century" panose="02040604050505020304" pitchFamily="18" charset="0"/>
              </a:rPr>
              <a:t>Simulations &amp; </a:t>
            </a:r>
            <a:r>
              <a:rPr lang="en-US" dirty="0">
                <a:latin typeface="Century" panose="02040604050505020304" pitchFamily="18" charset="0"/>
              </a:rPr>
              <a:t>Calculations</a:t>
            </a:r>
            <a:endParaRPr lang="en-GB" dirty="0">
              <a:latin typeface="Century" panose="02040604050505020304" pitchFamily="18" charset="0"/>
            </a:endParaRPr>
          </a:p>
          <a:p>
            <a:r>
              <a:rPr lang="en-US" dirty="0">
                <a:latin typeface="Century" panose="02040604050505020304" pitchFamily="18" charset="0"/>
              </a:rPr>
              <a:t>Testing &amp; Validation</a:t>
            </a:r>
          </a:p>
          <a:p>
            <a:r>
              <a:rPr lang="en-US" dirty="0">
                <a:latin typeface="Century" panose="02040604050505020304" pitchFamily="18" charset="0"/>
              </a:rPr>
              <a:t>Budget</a:t>
            </a:r>
          </a:p>
          <a:p>
            <a:r>
              <a:rPr lang="en-US" dirty="0">
                <a:latin typeface="Century" panose="02040604050505020304" pitchFamily="18" charset="0"/>
              </a:rPr>
              <a:t>References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1F2C7C-4F7B-8448-DCF6-DC1611828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8E35-81AE-4701-BA93-B79702E40408}" type="datetime1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Individual Mechatronic Design Project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B6ED9E-0821-11DE-4809-5A0F1E85E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BC62B-AB22-5491-BF9A-AE0588F98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entury" panose="02040604050505020304" pitchFamily="18" charset="0"/>
              </a:rPr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BD9E-33DC-5219-87D6-3A6572D25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95535"/>
            <a:ext cx="9601200" cy="4271865"/>
          </a:xfrm>
        </p:spPr>
        <p:txBody>
          <a:bodyPr/>
          <a:lstStyle/>
          <a:p>
            <a:r>
              <a:rPr lang="en-US" dirty="0"/>
              <a:t>This project is about a small-scale lawn mower.</a:t>
            </a:r>
          </a:p>
          <a:p>
            <a:r>
              <a:rPr lang="en-US" dirty="0"/>
              <a:t>Works in automated mode and in manual mode. </a:t>
            </a:r>
          </a:p>
          <a:p>
            <a:r>
              <a:rPr lang="en-US" dirty="0"/>
              <a:t>In automated mode, the robot can cut grass on the given area (area- square. Length(x) and width(y) are known and can be edited).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In manual mode, the robot can be controlled manually.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93A71-6D18-A19D-B715-458508C8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93F82-43DC-4F76-8FC3-916C2FBFCA06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1CE1C-DD1B-563D-125F-9D64B09B7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Individual Mechatronic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8AD84-86BB-E0C4-9877-43A1B0D43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3</a:t>
            </a:fld>
            <a:endParaRPr lang="en-US"/>
          </a:p>
        </p:txBody>
      </p:sp>
      <p:pic>
        <p:nvPicPr>
          <p:cNvPr id="10" name="Picture 9" descr="A line drawing on a piece of paper&#10;&#10;AI-generated content may be incorrect.">
            <a:extLst>
              <a:ext uri="{FF2B5EF4-FFF2-40B4-BE49-F238E27FC236}">
                <a16:creationId xmlns:a16="http://schemas.microsoft.com/office/drawing/2014/main" id="{0F1E9CEA-3F2E-C47B-BAA0-6E63F7FDC3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991" y="3248608"/>
            <a:ext cx="3144417" cy="211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733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BC62B-AB22-5491-BF9A-AE0588F98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entury" panose="02040604050505020304" pitchFamily="18" charset="0"/>
              </a:rPr>
              <a:t>Aim of the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BD9E-33DC-5219-87D6-3A6572D25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35494"/>
            <a:ext cx="9601200" cy="4131906"/>
          </a:xfrm>
        </p:spPr>
        <p:txBody>
          <a:bodyPr/>
          <a:lstStyle/>
          <a:p>
            <a:r>
              <a:rPr lang="en-US" dirty="0"/>
              <a:t>To design </a:t>
            </a:r>
            <a:r>
              <a:rPr lang="en-US" b="1" dirty="0"/>
              <a:t>a low-cost</a:t>
            </a:r>
            <a:r>
              <a:rPr lang="en-US" dirty="0"/>
              <a:t>, </a:t>
            </a:r>
            <a:r>
              <a:rPr lang="en-US" b="1" dirty="0"/>
              <a:t>autonomous</a:t>
            </a:r>
            <a:r>
              <a:rPr lang="en-US" dirty="0"/>
              <a:t> grass cutting robot </a:t>
            </a:r>
            <a:r>
              <a:rPr lang="en-US" b="1" dirty="0"/>
              <a:t>with manual controlling </a:t>
            </a:r>
            <a:r>
              <a:rPr lang="en-US" dirty="0"/>
              <a:t>with </a:t>
            </a:r>
            <a:r>
              <a:rPr lang="en-US" b="1" dirty="0"/>
              <a:t>IoT</a:t>
            </a:r>
            <a:r>
              <a:rPr lang="en-US" dirty="0"/>
              <a:t> based controlling and monitoring capability.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93A71-6D18-A19D-B715-458508C8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773B1-5FD7-41C6-8F2A-5781246F7899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1CE1C-DD1B-563D-125F-9D64B09B7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Individual Mechatronic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8AD84-86BB-E0C4-9877-43A1B0D43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758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FBEE6-4A67-565F-A3C5-D5FE02DD7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" panose="020406040505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A3A72-7965-A850-D6C4-A48D319FE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Track distances accurately using the stepper motors.</a:t>
            </a:r>
          </a:p>
          <a:p>
            <a:r>
              <a:rPr lang="en-US" dirty="0"/>
              <a:t>Obtain direction stabilization and slipping detection using MPU sensors.</a:t>
            </a:r>
          </a:p>
          <a:p>
            <a:r>
              <a:rPr lang="en-US" dirty="0"/>
              <a:t>Control and monitor remotely through the Blynk application.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7592C-03F3-D453-A990-29B686016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A6AA3-9054-40FC-BCB7-5B7B0B3D00D6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CE1F5-C3BA-6654-5067-B2867A981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Individual Mechatronic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D1E9D-B3E3-343D-3382-B6939ECF1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355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62BE8-8A11-F63D-A40D-E2ED25BB8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entury" panose="02040604050505020304" pitchFamily="18" charset="0"/>
              </a:rPr>
              <a:t>Literature Review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274F1-AE0B-1827-A7EE-46ADD0ADE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D8A35-9E27-4375-B6BB-45FD1391DA0B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BBC5A-C226-919F-2880-6641C1DD1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Individual Mechatronic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B59FF-8410-CFC0-9E0D-FE6083E8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7B9DEAD-EEDF-FFC2-44D1-153541F59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985583"/>
              </p:ext>
            </p:extLst>
          </p:nvPr>
        </p:nvGraphicFramePr>
        <p:xfrm>
          <a:off x="1471612" y="1530220"/>
          <a:ext cx="9401176" cy="48815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50294">
                  <a:extLst>
                    <a:ext uri="{9D8B030D-6E8A-4147-A177-3AD203B41FA5}">
                      <a16:colId xmlns:a16="http://schemas.microsoft.com/office/drawing/2014/main" val="3227173959"/>
                    </a:ext>
                  </a:extLst>
                </a:gridCol>
                <a:gridCol w="2350294">
                  <a:extLst>
                    <a:ext uri="{9D8B030D-6E8A-4147-A177-3AD203B41FA5}">
                      <a16:colId xmlns:a16="http://schemas.microsoft.com/office/drawing/2014/main" val="1216038725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104754202"/>
                    </a:ext>
                  </a:extLst>
                </a:gridCol>
                <a:gridCol w="2185988">
                  <a:extLst>
                    <a:ext uri="{9D8B030D-6E8A-4147-A177-3AD203B41FA5}">
                      <a16:colId xmlns:a16="http://schemas.microsoft.com/office/drawing/2014/main" val="2789684812"/>
                    </a:ext>
                  </a:extLst>
                </a:gridCol>
              </a:tblGrid>
              <a:tr h="3523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Robot</a:t>
                      </a:r>
                      <a:endParaRPr lang="en-US" sz="1300"/>
                    </a:p>
                  </a:txBody>
                  <a:tcPr marL="89535" marR="89535" marT="44768" marB="44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Control &amp; Communication</a:t>
                      </a:r>
                      <a:endParaRPr lang="en-US" sz="1300"/>
                    </a:p>
                  </a:txBody>
                  <a:tcPr marL="89535" marR="89535" marT="44768" marB="44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Features</a:t>
                      </a:r>
                      <a:endParaRPr lang="en-US" sz="1300"/>
                    </a:p>
                  </a:txBody>
                  <a:tcPr marL="89535" marR="89535" marT="44768" marB="44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Loopholes / Limitations</a:t>
                      </a:r>
                      <a:endParaRPr lang="en-US" sz="1300"/>
                    </a:p>
                  </a:txBody>
                  <a:tcPr marL="89535" marR="89535" marT="44768" marB="44768" anchor="ctr"/>
                </a:tc>
                <a:extLst>
                  <a:ext uri="{0D108BD9-81ED-4DB2-BD59-A6C34878D82A}">
                    <a16:rowId xmlns:a16="http://schemas.microsoft.com/office/drawing/2014/main" val="751188949"/>
                  </a:ext>
                </a:extLst>
              </a:tr>
              <a:tr h="1328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/>
                        <a:t>Dual-Mode Grass Cutter Robot</a:t>
                      </a:r>
                      <a:r>
                        <a:rPr lang="en-US" sz="1300" dirty="0"/>
                        <a:t> (Che Man [2])</a:t>
                      </a:r>
                    </a:p>
                  </a:txBody>
                  <a:tcPr marL="89535" marR="89535" marT="44768" marB="44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Wireless PS2 controller + PS2 Bluetooth receiver</a:t>
                      </a:r>
                    </a:p>
                  </a:txBody>
                  <a:tcPr marL="89535" marR="89535" marT="44768" marB="44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Automated &amp; manual modes</a:t>
                      </a:r>
                    </a:p>
                  </a:txBody>
                  <a:tcPr marL="89535" marR="89535" marT="44768" marB="44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• Expensive controller</a:t>
                      </a:r>
                    </a:p>
                    <a:p>
                      <a:pPr>
                        <a:buNone/>
                      </a:pPr>
                      <a:r>
                        <a:rPr lang="en-US" sz="1300" dirty="0"/>
                        <a:t>• No speed control</a:t>
                      </a:r>
                    </a:p>
                    <a:p>
                      <a:pPr>
                        <a:buNone/>
                      </a:pPr>
                      <a:r>
                        <a:rPr lang="en-US" sz="1300" dirty="0"/>
                        <a:t>• No fully automated    alignment</a:t>
                      </a:r>
                    </a:p>
                    <a:p>
                      <a:pPr>
                        <a:buNone/>
                      </a:pPr>
                      <a:r>
                        <a:rPr lang="en-US" sz="1300" dirty="0"/>
                        <a:t>• Cannot perform precise alignments.</a:t>
                      </a:r>
                    </a:p>
                    <a:p>
                      <a:pPr>
                        <a:buNone/>
                      </a:pPr>
                      <a:r>
                        <a:rPr lang="en-US" sz="1300" dirty="0"/>
                        <a:t>• No method to measure distances.</a:t>
                      </a:r>
                    </a:p>
                    <a:p>
                      <a:pPr>
                        <a:buNone/>
                      </a:pPr>
                      <a:endParaRPr lang="en-US" sz="1300" dirty="0"/>
                    </a:p>
                  </a:txBody>
                  <a:tcPr marL="89535" marR="89535" marT="44768" marB="44768" anchor="ctr"/>
                </a:tc>
                <a:extLst>
                  <a:ext uri="{0D108BD9-81ED-4DB2-BD59-A6C34878D82A}">
                    <a16:rowId xmlns:a16="http://schemas.microsoft.com/office/drawing/2014/main" val="1846102624"/>
                  </a:ext>
                </a:extLst>
              </a:tr>
              <a:tr h="1328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/>
                        <a:t>Smart Solar Agriculture Grass Cutting Robot</a:t>
                      </a:r>
                      <a:r>
                        <a:rPr lang="en-US" sz="1300" dirty="0"/>
                        <a:t> (F. Jemisha [4])</a:t>
                      </a:r>
                    </a:p>
                  </a:txBody>
                  <a:tcPr marL="89535" marR="89535" marT="44768" marB="44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 err="1"/>
                        <a:t>NodeMCU</a:t>
                      </a:r>
                      <a:r>
                        <a:rPr lang="en-US" sz="1300" dirty="0"/>
                        <a:t> + Arduino Uno; Wi-Fi + HC-05 Bluetooth</a:t>
                      </a:r>
                    </a:p>
                  </a:txBody>
                  <a:tcPr marL="89535" marR="89535" marT="44768" marB="44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Coordinates tracking; Blynk app communication</a:t>
                      </a:r>
                    </a:p>
                  </a:txBody>
                  <a:tcPr marL="89535" marR="89535" marT="44768" marB="44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• Network-dependent</a:t>
                      </a:r>
                    </a:p>
                    <a:p>
                      <a:pPr>
                        <a:buNone/>
                      </a:pPr>
                      <a:r>
                        <a:rPr lang="en-US" sz="1300" dirty="0"/>
                        <a:t>• No speed control</a:t>
                      </a:r>
                    </a:p>
                    <a:p>
                      <a:pPr>
                        <a:buNone/>
                      </a:pPr>
                      <a:r>
                        <a:rPr lang="en-US" sz="1300" dirty="0"/>
                        <a:t>• No fully automated alignment</a:t>
                      </a:r>
                    </a:p>
                    <a:p>
                      <a:pPr>
                        <a:buNone/>
                      </a:pPr>
                      <a:r>
                        <a:rPr lang="en-US" sz="1300" dirty="0"/>
                        <a:t>• Cannot perform precise alignments</a:t>
                      </a:r>
                    </a:p>
                  </a:txBody>
                  <a:tcPr marL="89535" marR="89535" marT="44768" marB="44768" anchor="ctr"/>
                </a:tc>
                <a:extLst>
                  <a:ext uri="{0D108BD9-81ED-4DB2-BD59-A6C34878D82A}">
                    <a16:rowId xmlns:a16="http://schemas.microsoft.com/office/drawing/2014/main" val="4006810011"/>
                  </a:ext>
                </a:extLst>
              </a:tr>
              <a:tr h="1328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Solar Power Based Agriculture Robot</a:t>
                      </a:r>
                      <a:r>
                        <a:rPr lang="en-US" sz="1300"/>
                        <a:t> (Bysani Sai Yaswanth [1])</a:t>
                      </a:r>
                    </a:p>
                  </a:txBody>
                  <a:tcPr marL="89535" marR="89535" marT="44768" marB="44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IoT + Android app control</a:t>
                      </a:r>
                    </a:p>
                  </a:txBody>
                  <a:tcPr marL="89535" marR="89535" marT="44768" marB="44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Pesticide spraying, grass cutting, seed sowing</a:t>
                      </a:r>
                    </a:p>
                  </a:txBody>
                  <a:tcPr marL="89535" marR="89535" marT="44768" marB="4476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• Complex operation</a:t>
                      </a:r>
                    </a:p>
                    <a:p>
                      <a:pPr>
                        <a:buNone/>
                      </a:pPr>
                      <a:r>
                        <a:rPr lang="en-US" sz="1300" dirty="0"/>
                        <a:t>• No speed control</a:t>
                      </a:r>
                    </a:p>
                    <a:p>
                      <a:pPr>
                        <a:buNone/>
                      </a:pPr>
                      <a:r>
                        <a:rPr lang="en-US" sz="1300" dirty="0"/>
                        <a:t>• No fully automated alignment</a:t>
                      </a:r>
                    </a:p>
                    <a:p>
                      <a:pPr>
                        <a:buNone/>
                      </a:pPr>
                      <a:r>
                        <a:rPr lang="en-US" sz="1300" dirty="0"/>
                        <a:t>• Cannot perform precise alignments</a:t>
                      </a:r>
                    </a:p>
                  </a:txBody>
                  <a:tcPr marL="89535" marR="89535" marT="44768" marB="44768" anchor="ctr"/>
                </a:tc>
                <a:extLst>
                  <a:ext uri="{0D108BD9-81ED-4DB2-BD59-A6C34878D82A}">
                    <a16:rowId xmlns:a16="http://schemas.microsoft.com/office/drawing/2014/main" val="401840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9169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494C2-340F-58E9-1A5A-CA36105B0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39D53-E4DE-8063-9819-E944270F7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" panose="020406040505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4F999-480D-C35B-5AC3-C2FB93AF7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71601"/>
            <a:ext cx="9601200" cy="472129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Stepper motors are used to track the distance traveled</a:t>
            </a:r>
          </a:p>
          <a:p>
            <a:pPr marL="0" indent="0">
              <a:buNone/>
            </a:pPr>
            <a:r>
              <a:rPr lang="en-US" dirty="0"/>
              <a:t>		i.e. 200 steps per revolution, </a:t>
            </a:r>
          </a:p>
          <a:p>
            <a:pPr marL="0" indent="0">
              <a:buNone/>
            </a:pPr>
            <a:r>
              <a:rPr lang="en-US" dirty="0"/>
              <a:t>		      Distance travels per a revolution = Pi * D      ; D= 8cm</a:t>
            </a:r>
          </a:p>
          <a:p>
            <a:pPr marL="0" indent="0">
              <a:buNone/>
            </a:pPr>
            <a:r>
              <a:rPr lang="en-US" dirty="0"/>
              <a:t>							     =  25.132 cm</a:t>
            </a:r>
          </a:p>
          <a:p>
            <a:pPr marL="0" indent="0">
              <a:buNone/>
            </a:pPr>
            <a:r>
              <a:rPr lang="en-US" dirty="0"/>
              <a:t>		      Steps should be given to move  =200/25.132 * L</a:t>
            </a:r>
          </a:p>
          <a:p>
            <a:pPr marL="0" indent="0">
              <a:buNone/>
            </a:pPr>
            <a:r>
              <a:rPr lang="en-US" dirty="0"/>
              <a:t>		      L cm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	  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B13E1-06CB-271C-54CE-5ADCFB5FA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0E93A-EFD0-4A2D-8F63-F81854EC773D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00858-1E25-5C6F-9E7B-8BC37EC08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Individual Mechatronic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A160-F519-93E8-4AC2-75F56C0A5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 descr="A wheel with spikes on it&#10;&#10;AI-generated content may be incorrect.">
            <a:extLst>
              <a:ext uri="{FF2B5EF4-FFF2-40B4-BE49-F238E27FC236}">
                <a16:creationId xmlns:a16="http://schemas.microsoft.com/office/drawing/2014/main" id="{71032FC7-D102-C646-B90B-1782D12FFC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660" y="3820886"/>
            <a:ext cx="2704566" cy="2029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358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DA2BA-AF1C-1787-8ADC-F8EBA9C79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" panose="020406040505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3B1AE-AD36-DD0A-7740-10CD1A623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71601"/>
            <a:ext cx="9601200" cy="4721290"/>
          </a:xfrm>
        </p:spPr>
        <p:txBody>
          <a:bodyPr>
            <a:normAutofit/>
          </a:bodyPr>
          <a:lstStyle/>
          <a:p>
            <a:r>
              <a:rPr lang="en-US" dirty="0"/>
              <a:t>A magnetometer module was used to keep track of the direction heading.</a:t>
            </a:r>
          </a:p>
          <a:p>
            <a:r>
              <a:rPr lang="en-US" dirty="0"/>
              <a:t>Without some components (before adding the DC motor, PWM motor controller, and relay), it worked as needed.</a:t>
            </a:r>
          </a:p>
          <a:p>
            <a:r>
              <a:rPr lang="en-US" dirty="0"/>
              <a:t>Due to the added noise, even with filters (libraries), it was not possible to eliminate the noise.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	  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C742A-655E-4595-E045-D66BAB4A0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0E93A-EFD0-4A2D-8F63-F81854EC773D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59CB7-7F3E-70A5-402D-F341E6CD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Individual Mechatronic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1EA61-0FF1-77DC-49A5-34CF8E7AC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8</a:t>
            </a:fld>
            <a:endParaRPr lang="en-US"/>
          </a:p>
        </p:txBody>
      </p:sp>
      <p:pic>
        <p:nvPicPr>
          <p:cNvPr id="10" name="Picture 9" descr="A black rectangular object with wires&#10;&#10;AI-generated content may be incorrect.">
            <a:extLst>
              <a:ext uri="{FF2B5EF4-FFF2-40B4-BE49-F238E27FC236}">
                <a16:creationId xmlns:a16="http://schemas.microsoft.com/office/drawing/2014/main" id="{D6D4C4E7-26C8-D3A5-2DBD-FEB5021FE1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910" y="3237722"/>
            <a:ext cx="3243943" cy="262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162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6EBE7-8BE9-3135-D6DB-2D5C672F0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2EF8E-0099-8F03-DE45-28C6E0295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" panose="020406040505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F08B6-7639-F4EF-BCD9-AF4F48F78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71601"/>
            <a:ext cx="9601200" cy="4721290"/>
          </a:xfrm>
        </p:spPr>
        <p:txBody>
          <a:bodyPr>
            <a:normAutofit/>
          </a:bodyPr>
          <a:lstStyle/>
          <a:p>
            <a:r>
              <a:rPr lang="en-US" dirty="0"/>
              <a:t>A 3500 RPM, 12V high-torque knife motor was used to cut grass. To prevent overcurrent in the circuit, a PWM speed controller module (12V, 10A) was added to limit the power supplied to the motor and to control its speed.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	  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A60BF-C5DB-CE81-A633-6F9044D6D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0E93A-EFD0-4A2D-8F63-F81854EC773D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F11A5-E953-D2CF-4156-4CB2F359B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Individual Mechatronic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0EAD3-CA98-25DC-4F77-D72159692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 descr="A machine with wires and a circular object&#10;&#10;AI-generated content may be incorrect.">
            <a:extLst>
              <a:ext uri="{FF2B5EF4-FFF2-40B4-BE49-F238E27FC236}">
                <a16:creationId xmlns:a16="http://schemas.microsoft.com/office/drawing/2014/main" id="{9E6461EC-3A0F-A546-0AD9-B0E3F0D312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0904" y="2416627"/>
            <a:ext cx="3362834" cy="3676262"/>
          </a:xfrm>
          <a:prstGeom prst="rect">
            <a:avLst/>
          </a:prstGeom>
        </p:spPr>
      </p:pic>
      <p:pic>
        <p:nvPicPr>
          <p:cNvPr id="11" name="Picture 10" descr="A hand pointing at a machine&#10;&#10;AI-generated content may be incorrect.">
            <a:extLst>
              <a:ext uri="{FF2B5EF4-FFF2-40B4-BE49-F238E27FC236}">
                <a16:creationId xmlns:a16="http://schemas.microsoft.com/office/drawing/2014/main" id="{518248F7-A82A-BF26-5C88-F0517CCB5B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0147" y="2416627"/>
            <a:ext cx="3013787" cy="36762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848C316-96E5-CA4B-9799-6C941174FA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004" y="2404964"/>
            <a:ext cx="3655491" cy="367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284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10371-AA1C-35CA-6327-4DD04F155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EE8AD-9EDB-258F-A39F-5B424DCB8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" panose="020406040505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6BF14-F86C-4032-D44A-0219B58EC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07501"/>
            <a:ext cx="9601200" cy="4385389"/>
          </a:xfrm>
        </p:spPr>
        <p:txBody>
          <a:bodyPr>
            <a:normAutofit/>
          </a:bodyPr>
          <a:lstStyle/>
          <a:p>
            <a:r>
              <a:rPr lang="en-US" dirty="0"/>
              <a:t>Ultrasonic sensor was used for the object detection.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	  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EEEDD-7C22-FDD7-AB1F-955A8A9A1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0E93A-EFD0-4A2D-8F63-F81854EC773D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5C4FC-7FF7-60D1-2356-39D2CB4BF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Individual Mechatronic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5B96A-E488-7873-6292-0391FBD17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 descr="A machine with pipes and wires&#10;&#10;AI-generated content may be incorrect.">
            <a:extLst>
              <a:ext uri="{FF2B5EF4-FFF2-40B4-BE49-F238E27FC236}">
                <a16:creationId xmlns:a16="http://schemas.microsoft.com/office/drawing/2014/main" id="{A2C9067D-D22B-93DD-E652-0989818DF8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425" y="2171700"/>
            <a:ext cx="5579706" cy="414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686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E2A24-2D14-1839-6B07-074675D60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8C4CE-DFF0-348A-7B06-F97A65DC8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" panose="020406040505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34B90-772E-D837-9853-93832EADA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07501"/>
            <a:ext cx="9601200" cy="4385389"/>
          </a:xfrm>
        </p:spPr>
        <p:txBody>
          <a:bodyPr>
            <a:normAutofit/>
          </a:bodyPr>
          <a:lstStyle/>
          <a:p>
            <a:r>
              <a:rPr lang="en-US" dirty="0"/>
              <a:t>Control panel of the lawn mower.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	  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F673D-6163-AC39-EA0B-C97BCEEE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0E93A-EFD0-4A2D-8F63-F81854EC773D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1E269-55CC-E648-7830-F37FC947F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Individual Mechatronic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A310D-7056-F5BF-61A5-44FF8C192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11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38E519-0DDA-64AC-1926-9E688F4C7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653" y="2171700"/>
            <a:ext cx="7259216" cy="340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290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DA2BA-AF1C-1787-8ADC-F8EBA9C79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" panose="02040604050505020304" pitchFamily="18" charset="0"/>
              </a:rPr>
              <a:t>Mechanical Design</a:t>
            </a:r>
            <a:br>
              <a:rPr lang="en-US" dirty="0">
                <a:latin typeface="Century" panose="02040604050505020304" pitchFamily="18" charset="0"/>
              </a:rPr>
            </a:br>
            <a:r>
              <a:rPr lang="en-US" sz="2000" dirty="0">
                <a:latin typeface="Century" panose="02040604050505020304" pitchFamily="18" charset="0"/>
              </a:rPr>
              <a:t>chassis</a:t>
            </a:r>
            <a:endParaRPr lang="en-US" dirty="0">
              <a:latin typeface="Century" panose="020406040505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C742A-655E-4595-E045-D66BAB4A0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420D-6D16-4888-A0D9-824AA093A581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59CB7-7F3E-70A5-402D-F341E6CD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Individual Mechatronic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1EA61-0FF1-77DC-49A5-34CF8E7AC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12</a:t>
            </a:fld>
            <a:endParaRPr lang="en-US"/>
          </a:p>
        </p:txBody>
      </p:sp>
      <p:pic>
        <p:nvPicPr>
          <p:cNvPr id="9" name="Content Placeholder 8" descr="A grey pipe cart with wheels&#10;&#10;AI-generated content may be incorrect.">
            <a:extLst>
              <a:ext uri="{FF2B5EF4-FFF2-40B4-BE49-F238E27FC236}">
                <a16:creationId xmlns:a16="http://schemas.microsoft.com/office/drawing/2014/main" id="{D6BB6879-593E-4671-50C5-E3D570C0DCB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940767"/>
            <a:ext cx="5402424" cy="3552497"/>
          </a:xfrm>
        </p:spPr>
      </p:pic>
      <p:pic>
        <p:nvPicPr>
          <p:cNvPr id="14" name="Content Placeholder 13" descr="A grey pipe structure with a rectangular object&#10;&#10;AI-generated content may be incorrect.">
            <a:extLst>
              <a:ext uri="{FF2B5EF4-FFF2-40B4-BE49-F238E27FC236}">
                <a16:creationId xmlns:a16="http://schemas.microsoft.com/office/drawing/2014/main" id="{B9F1D4C2-FA1F-5107-5D99-C678DFEB512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5345" y="2104052"/>
            <a:ext cx="4634787" cy="3225925"/>
          </a:xfrm>
        </p:spPr>
      </p:pic>
    </p:spTree>
    <p:extLst>
      <p:ext uri="{BB962C8B-B14F-4D97-AF65-F5344CB8AC3E}">
        <p14:creationId xmlns:p14="http://schemas.microsoft.com/office/powerpoint/2010/main" val="194589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E10A4-86DA-DD33-4920-65D26CE7F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3AE37-FE62-0282-93B0-C75C077D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" panose="02040604050505020304" pitchFamily="18" charset="0"/>
              </a:rPr>
              <a:t>Mechanical Design</a:t>
            </a:r>
            <a:br>
              <a:rPr lang="en-US" dirty="0">
                <a:latin typeface="Century" panose="02040604050505020304" pitchFamily="18" charset="0"/>
              </a:rPr>
            </a:br>
            <a:r>
              <a:rPr lang="en-US" sz="2000" dirty="0">
                <a:latin typeface="Century" panose="02040604050505020304" pitchFamily="18" charset="0"/>
              </a:rPr>
              <a:t>chassis</a:t>
            </a:r>
            <a:endParaRPr lang="en-US" dirty="0">
              <a:latin typeface="Century" panose="020406040505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0324C-B3EF-DCF7-0A4A-AAB67FBB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420D-6D16-4888-A0D9-824AA093A581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E580A-EA45-4FE1-A54D-4D891926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Individual Mechatronic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1FF8C-91F0-53F6-3F11-FF618AFAB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13</a:t>
            </a:fld>
            <a:endParaRPr lang="en-US"/>
          </a:p>
        </p:txBody>
      </p:sp>
      <p:pic>
        <p:nvPicPr>
          <p:cNvPr id="12" name="Content Placeholder 11" descr="A drawing of a machine with wheels&#10;&#10;AI-generated content may be incorrect.">
            <a:extLst>
              <a:ext uri="{FF2B5EF4-FFF2-40B4-BE49-F238E27FC236}">
                <a16:creationId xmlns:a16="http://schemas.microsoft.com/office/drawing/2014/main" id="{32FEF094-ACD1-FB8E-C4D8-8A2FAF92FA7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569" y="1651517"/>
            <a:ext cx="5877207" cy="4338735"/>
          </a:xfr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FB49AB6-F593-B218-4BE3-18A62B28E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78548" y="6962966"/>
            <a:ext cx="4447787" cy="305580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230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A9E29-65ED-BEB8-08F1-104144C11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138C5-C491-E372-865E-97D1EF8A7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" panose="02040604050505020304" pitchFamily="18" charset="0"/>
              </a:rPr>
              <a:t>Simulations</a:t>
            </a:r>
            <a:br>
              <a:rPr lang="en-US" dirty="0">
                <a:latin typeface="Century" panose="02040604050505020304" pitchFamily="18" charset="0"/>
              </a:rPr>
            </a:br>
            <a:r>
              <a:rPr lang="en-US" sz="2000" dirty="0">
                <a:latin typeface="Century" panose="02040604050505020304" pitchFamily="18" charset="0"/>
              </a:rPr>
              <a:t>FEA</a:t>
            </a:r>
            <a:endParaRPr lang="en-US" dirty="0">
              <a:latin typeface="Century" panose="020406040505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4F3AC-225F-F8CC-1E65-645D3A18B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C420D-6D16-4888-A0D9-824AA093A581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46380-F0DB-A4BC-B054-9F14F0675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Individual Mechatronic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3480B-3C98-4CE4-E28C-358E7FE61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14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69F0D03-8A1A-E333-7EEF-1619FFE7F7F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884" y="2487087"/>
            <a:ext cx="4448175" cy="2293590"/>
          </a:xfrm>
        </p:spPr>
      </p:pic>
      <p:pic>
        <p:nvPicPr>
          <p:cNvPr id="15" name="Content Placeholder 14" descr="A blue and black chair&#10;&#10;AI-generated content may be incorrect.">
            <a:extLst>
              <a:ext uri="{FF2B5EF4-FFF2-40B4-BE49-F238E27FC236}">
                <a16:creationId xmlns:a16="http://schemas.microsoft.com/office/drawing/2014/main" id="{3B56FC41-5568-8E95-C5E0-7E699D48E3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6238" y="685801"/>
            <a:ext cx="4798105" cy="2663890"/>
          </a:xfrm>
        </p:spPr>
      </p:pic>
      <p:pic>
        <p:nvPicPr>
          <p:cNvPr id="17" name="Picture 16" descr="A computer generated image of a red object&#10;&#10;AI-generated content may be incorrect.">
            <a:extLst>
              <a:ext uri="{FF2B5EF4-FFF2-40B4-BE49-F238E27FC236}">
                <a16:creationId xmlns:a16="http://schemas.microsoft.com/office/drawing/2014/main" id="{C189673A-9B45-3E78-C67D-788AF55546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5881" y="3282662"/>
            <a:ext cx="4798462" cy="299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485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DA2BA-AF1C-1787-8ADC-F8EBA9C79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" panose="02040604050505020304" pitchFamily="18" charset="0"/>
              </a:rPr>
              <a:t>Simulations</a:t>
            </a:r>
            <a:br>
              <a:rPr lang="en-US" dirty="0">
                <a:latin typeface="Century" panose="02040604050505020304" pitchFamily="18" charset="0"/>
              </a:rPr>
            </a:br>
            <a:r>
              <a:rPr lang="en-US" sz="2000" dirty="0">
                <a:latin typeface="Century" panose="02040604050505020304" pitchFamily="18" charset="0"/>
              </a:rPr>
              <a:t>For stepper Motor Control</a:t>
            </a:r>
            <a:endParaRPr lang="en-US" dirty="0">
              <a:latin typeface="Century" panose="02040604050505020304" pitchFamily="18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CCF188C-F512-94B1-28A1-D474B100F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11221"/>
            <a:ext cx="9601200" cy="3956179"/>
          </a:xfrm>
        </p:spPr>
        <p:txBody>
          <a:bodyPr/>
          <a:lstStyle/>
          <a:p>
            <a:r>
              <a:rPr lang="en-US" sz="2000" dirty="0"/>
              <a:t>Speed adjustment, direction control, rotation control of NEMA 17 motors using ESP32 was simulated.</a:t>
            </a:r>
          </a:p>
          <a:p>
            <a:endParaRPr lang="en-US" sz="20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C742A-655E-4595-E045-D66BAB4A0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6B72D-0D2E-4299-A80A-FF3F1BE4481C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59CB7-7F3E-70A5-402D-F341E6CD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Individual Mechatronic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1EA61-0FF1-77DC-49A5-34CF8E7AC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15</a:t>
            </a:fld>
            <a:endParaRPr lang="en-US"/>
          </a:p>
        </p:txBody>
      </p:sp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30B9710-F19C-1A4E-F655-0AA5492257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513" y="2414294"/>
            <a:ext cx="4038868" cy="3956179"/>
          </a:xfrm>
          <a:prstGeom prst="rect">
            <a:avLst/>
          </a:prstGeom>
        </p:spPr>
      </p:pic>
      <p:pic>
        <p:nvPicPr>
          <p:cNvPr id="14" name="Picture 1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8F518D8-DA2A-E215-67D2-BE4D6251C6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527" y="2911151"/>
            <a:ext cx="3769567" cy="337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223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1850-3856-DE09-504E-B6F3D4D2E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" panose="02040604050505020304" pitchFamily="18" charset="0"/>
              </a:rPr>
              <a:t>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71A4D-7D5F-0E98-F74F-3BFE03F04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10450286" cy="3581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ESP WROOM 32+ Magnetometer+ 2x NEMA 17 + 12V DC Motor+ 12V Battery pack+ Caster Wheels+ Chassis+ Relay module + PWM Controller + Ultrasonic + Buck module (LM 2596)+ Miscellaneous </a:t>
            </a:r>
          </a:p>
          <a:p>
            <a:pPr marL="0" indent="0">
              <a:buNone/>
            </a:pPr>
            <a:r>
              <a:rPr lang="en-US" dirty="0"/>
              <a:t>= 10g+ 5g+ 280gx2+ 350g+ 250g+ 300g+ 700g+ 15g + 80g + 10g +25g + 400g  ;[7]</a:t>
            </a:r>
          </a:p>
          <a:p>
            <a:pPr marL="0" indent="0">
              <a:buNone/>
            </a:pPr>
            <a:r>
              <a:rPr lang="en-US" dirty="0"/>
              <a:t>= 2.575kg +0.18 kg=2.755 kg</a:t>
            </a:r>
          </a:p>
          <a:p>
            <a:pPr marL="0" indent="0">
              <a:buNone/>
            </a:pPr>
            <a:r>
              <a:rPr lang="en-US" dirty="0"/>
              <a:t>W=mg= 27.02655 N</a:t>
            </a:r>
          </a:p>
          <a:p>
            <a:pPr marL="0" indent="0">
              <a:buNone/>
            </a:pPr>
            <a:r>
              <a:rPr lang="en-US" dirty="0"/>
              <a:t>F per wheel= 27.027/2= 13.515 N			;Assuming equal wheel distribution.</a:t>
            </a:r>
          </a:p>
          <a:p>
            <a:pPr marL="0" indent="0">
              <a:buNone/>
            </a:pPr>
            <a:r>
              <a:rPr lang="en-US" dirty="0"/>
              <a:t>Torque per wheel=   F x R</a:t>
            </a:r>
          </a:p>
          <a:p>
            <a:pPr marL="0" indent="0">
              <a:buNone/>
            </a:pPr>
            <a:r>
              <a:rPr lang="en-US" dirty="0"/>
              <a:t>                             =  13.515 x 0.08</a:t>
            </a:r>
          </a:p>
          <a:p>
            <a:pPr marL="0" indent="0">
              <a:buNone/>
            </a:pPr>
            <a:r>
              <a:rPr lang="en-US" dirty="0"/>
              <a:t>                             =   1.0812 Nm              ; (&lt;0.6 x 2 = 1.2 cm)  ;0.6 Nm for the stepper motor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E850A-D585-AF8D-3971-87539A05D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B56D-5955-404B-A1BD-C9ACD737899A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BB32B-E9B2-BF96-39BE-C50FEA6BC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Mechatronic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621B3-1177-5AC8-7CAC-754BD3D32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00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E7427-D636-8447-093D-FC1FD1C9A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CE2FF-052F-315A-989B-B167A7E46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Stepper motors are used to track the distance traveled</a:t>
            </a:r>
          </a:p>
          <a:p>
            <a:pPr marL="0" indent="0">
              <a:buNone/>
            </a:pPr>
            <a:r>
              <a:rPr lang="en-US" dirty="0"/>
              <a:t>		i.e. 200 steps per revolution, </a:t>
            </a:r>
          </a:p>
          <a:p>
            <a:pPr marL="0" indent="0">
              <a:buNone/>
            </a:pPr>
            <a:r>
              <a:rPr lang="en-US" dirty="0"/>
              <a:t>		      Distance travels per a revolution = Pi * D      ; D= 8cm</a:t>
            </a:r>
          </a:p>
          <a:p>
            <a:pPr marL="0" indent="0">
              <a:buNone/>
            </a:pPr>
            <a:r>
              <a:rPr lang="en-US" dirty="0"/>
              <a:t>							     =  25.132 cm</a:t>
            </a:r>
          </a:p>
          <a:p>
            <a:pPr marL="0" indent="0">
              <a:buNone/>
            </a:pPr>
            <a:r>
              <a:rPr lang="en-US" dirty="0"/>
              <a:t>		      Steps should be given to move  =200/25.132 * L</a:t>
            </a:r>
          </a:p>
          <a:p>
            <a:pPr marL="0" indent="0">
              <a:buNone/>
            </a:pPr>
            <a:r>
              <a:rPr lang="en-US" dirty="0"/>
              <a:t>		      L cm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C9224-91B2-489C-7071-0919F4748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B56D-5955-404B-A1BD-C9ACD737899A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01B3E-B6E4-ADCF-6427-75476C0F8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Mechatronic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A42C6-AE7F-3552-3C25-5FF542C38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28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1821E-2738-56DD-774A-D111E856E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BBA9F-EB52-6326-82FD-8DE775064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" panose="02040604050505020304" pitchFamily="18" charset="0"/>
              </a:rPr>
              <a:t>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4846F-423B-4914-45A4-794AD056B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10450286" cy="3581400"/>
          </a:xfrm>
        </p:spPr>
        <p:txBody>
          <a:bodyPr/>
          <a:lstStyle/>
          <a:p>
            <a:r>
              <a:rPr lang="en-US" dirty="0"/>
              <a:t>With the 12V high-torque knife motor, 4 NM torque can be obtained at 3000RPM. This is adequate to provide the cutting force of 5N (Medium Condition). </a:t>
            </a:r>
          </a:p>
          <a:p>
            <a:pPr marL="0" indent="0">
              <a:buNone/>
            </a:pPr>
            <a:r>
              <a:rPr lang="en-US" dirty="0"/>
              <a:t>		Torque= Force x R    ; Cutting disc diameter</a:t>
            </a:r>
          </a:p>
          <a:p>
            <a:pPr marL="0" indent="0">
              <a:buNone/>
            </a:pPr>
            <a:r>
              <a:rPr lang="en-US" dirty="0"/>
              <a:t>			= 5N X 0.4m</a:t>
            </a:r>
          </a:p>
          <a:p>
            <a:pPr marL="0" indent="0">
              <a:buNone/>
            </a:pPr>
            <a:r>
              <a:rPr lang="en-US" dirty="0"/>
              <a:t>			= 2 Nm (&lt; 4Nm)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EE65C-8B42-353C-B274-A9557D4BE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B56D-5955-404B-A1BD-C9ACD737899A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7B25A-9AC6-7A1E-A202-91698D225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Mechatronic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B2E55-5A9E-9B8C-C05E-14FC9AFD3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780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C3908-ECD7-EE7B-7FD6-0003C5AE9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3B0C4-18EF-D51D-6001-706C1A67A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" panose="02040604050505020304" pitchFamily="18" charset="0"/>
              </a:rPr>
              <a:t>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2A760-44A7-6E32-66C8-7E7957080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10450286" cy="3581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7DD0-6DF7-D559-967F-DA67A4B43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B56D-5955-404B-A1BD-C9ACD737899A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38A8D-B74C-024E-8F67-3C1852F26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Mechatronic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F2799-4635-A3F1-C7B5-334EB6726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484CB48-B3F5-D21F-042A-2B7057B2E4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26400"/>
              </p:ext>
            </p:extLst>
          </p:nvPr>
        </p:nvGraphicFramePr>
        <p:xfrm>
          <a:off x="1371600" y="1380933"/>
          <a:ext cx="9097348" cy="334273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74337">
                  <a:extLst>
                    <a:ext uri="{9D8B030D-6E8A-4147-A177-3AD203B41FA5}">
                      <a16:colId xmlns:a16="http://schemas.microsoft.com/office/drawing/2014/main" val="4055013788"/>
                    </a:ext>
                  </a:extLst>
                </a:gridCol>
                <a:gridCol w="2260341">
                  <a:extLst>
                    <a:ext uri="{9D8B030D-6E8A-4147-A177-3AD203B41FA5}">
                      <a16:colId xmlns:a16="http://schemas.microsoft.com/office/drawing/2014/main" val="2252572581"/>
                    </a:ext>
                  </a:extLst>
                </a:gridCol>
                <a:gridCol w="2288333">
                  <a:extLst>
                    <a:ext uri="{9D8B030D-6E8A-4147-A177-3AD203B41FA5}">
                      <a16:colId xmlns:a16="http://schemas.microsoft.com/office/drawing/2014/main" val="2802628037"/>
                    </a:ext>
                  </a:extLst>
                </a:gridCol>
                <a:gridCol w="2274337">
                  <a:extLst>
                    <a:ext uri="{9D8B030D-6E8A-4147-A177-3AD203B41FA5}">
                      <a16:colId xmlns:a16="http://schemas.microsoft.com/office/drawing/2014/main" val="2118427122"/>
                    </a:ext>
                  </a:extLst>
                </a:gridCol>
              </a:tblGrid>
              <a:tr h="553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Voltage (V)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Current (A)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Power (W = V × I)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2215295"/>
                  </a:ext>
                </a:extLst>
              </a:tr>
              <a:tr h="272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ESP32 (WROOM 32)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3.3 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0.160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0.53 W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4778014"/>
                  </a:ext>
                </a:extLst>
              </a:tr>
              <a:tr h="460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 × NEMA 17 Stepper Motors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12 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 × 1.2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28.8 W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4263077"/>
                  </a:ext>
                </a:extLst>
              </a:tr>
              <a:tr h="272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12 V DC Cutter 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 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3.0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36.0 W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1841859"/>
                  </a:ext>
                </a:extLst>
              </a:tr>
              <a:tr h="272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Relay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 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0.070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0.35 W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2778285"/>
                  </a:ext>
                </a:extLst>
              </a:tr>
              <a:tr h="272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PWM Motor Controller (logic)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 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0.010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0.12 W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5494496"/>
                  </a:ext>
                </a:extLst>
              </a:tr>
              <a:tr h="272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HC-SR04 Ultrasonic Sensor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 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0.015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0.075 W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2910358"/>
                  </a:ext>
                </a:extLst>
              </a:tr>
              <a:tr h="460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LM2596 Buck Converter (est.)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 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0.100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1.20 W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834415"/>
                  </a:ext>
                </a:extLst>
              </a:tr>
              <a:tr h="272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Magnetometer (HMC5883)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3.3 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0.100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0.33 W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386484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0BE7306-16A0-1C18-C949-AF9CDB4BB837}"/>
              </a:ext>
            </a:extLst>
          </p:cNvPr>
          <p:cNvSpPr txBox="1"/>
          <p:nvPr/>
        </p:nvSpPr>
        <p:spPr>
          <a:xfrm>
            <a:off x="1409312" y="5122506"/>
            <a:ext cx="9429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(total) ​≈67.4W    (&lt;70 W))</a:t>
            </a:r>
          </a:p>
        </p:txBody>
      </p:sp>
    </p:spTree>
    <p:extLst>
      <p:ext uri="{BB962C8B-B14F-4D97-AF65-F5344CB8AC3E}">
        <p14:creationId xmlns:p14="http://schemas.microsoft.com/office/powerpoint/2010/main" val="4247830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AB544-7BCC-E2DD-4BA2-BF49C45CD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AB5CA-E15A-C1ED-1E94-3B5CAD8E6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" panose="02040604050505020304" pitchFamily="18" charset="0"/>
              </a:rPr>
              <a:t>Budget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AB55D-2151-28E6-C86F-B17A68C39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10450286" cy="3581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DFF81-8776-8C77-376D-198136747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B56D-5955-404B-A1BD-C9ACD737899A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A6A55-0E37-BFEA-24CD-9B2B284D0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Mechatronic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1684A-79D6-E580-7FFB-858F7B18F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346C570-89EB-59ED-5CC2-ADADC858B7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436217"/>
              </p:ext>
            </p:extLst>
          </p:nvPr>
        </p:nvGraphicFramePr>
        <p:xfrm>
          <a:off x="2595222" y="1847849"/>
          <a:ext cx="7005978" cy="41814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13620">
                  <a:extLst>
                    <a:ext uri="{9D8B030D-6E8A-4147-A177-3AD203B41FA5}">
                      <a16:colId xmlns:a16="http://schemas.microsoft.com/office/drawing/2014/main" val="236982033"/>
                    </a:ext>
                  </a:extLst>
                </a:gridCol>
                <a:gridCol w="3492358">
                  <a:extLst>
                    <a:ext uri="{9D8B030D-6E8A-4147-A177-3AD203B41FA5}">
                      <a16:colId xmlns:a16="http://schemas.microsoft.com/office/drawing/2014/main" val="764368319"/>
                    </a:ext>
                  </a:extLst>
                </a:gridCol>
              </a:tblGrid>
              <a:tr h="33074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Component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Price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extLst>
                  <a:ext uri="{0D108BD9-81ED-4DB2-BD59-A6C34878D82A}">
                    <a16:rowId xmlns:a16="http://schemas.microsoft.com/office/drawing/2014/main" val="2642011266"/>
                  </a:ext>
                </a:extLst>
              </a:tr>
              <a:tr h="39350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 NodeMCU ESP32 CH340 WiFi Bluetooth Dual Mode IoT Dev Board Type C 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1,200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extLst>
                  <a:ext uri="{0D108BD9-81ED-4DB2-BD59-A6C34878D82A}">
                    <a16:rowId xmlns:a16="http://schemas.microsoft.com/office/drawing/2014/main" val="2970055024"/>
                  </a:ext>
                </a:extLst>
              </a:tr>
              <a:tr h="27495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2 × NEMA 17 Stepper Motors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4,200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extLst>
                  <a:ext uri="{0D108BD9-81ED-4DB2-BD59-A6C34878D82A}">
                    <a16:rowId xmlns:a16="http://schemas.microsoft.com/office/drawing/2014/main" val="4218901008"/>
                  </a:ext>
                </a:extLst>
              </a:tr>
              <a:tr h="22853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nb-NO" sz="800" kern="100" dirty="0">
                          <a:effectLst/>
                        </a:rPr>
                        <a:t>12 V DC Cutter Motor</a:t>
                      </a:r>
                      <a:endParaRPr lang="en-U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1,350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extLst>
                  <a:ext uri="{0D108BD9-81ED-4DB2-BD59-A6C34878D82A}">
                    <a16:rowId xmlns:a16="http://schemas.microsoft.com/office/drawing/2014/main" val="525640519"/>
                  </a:ext>
                </a:extLst>
              </a:tr>
              <a:tr h="22853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Relay Module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350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extLst>
                  <a:ext uri="{0D108BD9-81ED-4DB2-BD59-A6C34878D82A}">
                    <a16:rowId xmlns:a16="http://schemas.microsoft.com/office/drawing/2014/main" val="3443536902"/>
                  </a:ext>
                </a:extLst>
              </a:tr>
              <a:tr h="22853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PWM Motor Controller 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850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extLst>
                  <a:ext uri="{0D108BD9-81ED-4DB2-BD59-A6C34878D82A}">
                    <a16:rowId xmlns:a16="http://schemas.microsoft.com/office/drawing/2014/main" val="709554843"/>
                  </a:ext>
                </a:extLst>
              </a:tr>
              <a:tr h="22853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HC-SR04 Ultrasonic Sensor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250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extLst>
                  <a:ext uri="{0D108BD9-81ED-4DB2-BD59-A6C34878D82A}">
                    <a16:rowId xmlns:a16="http://schemas.microsoft.com/office/drawing/2014/main" val="3652754043"/>
                  </a:ext>
                </a:extLst>
              </a:tr>
              <a:tr h="27495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LM2596 Buck Converter 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500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extLst>
                  <a:ext uri="{0D108BD9-81ED-4DB2-BD59-A6C34878D82A}">
                    <a16:rowId xmlns:a16="http://schemas.microsoft.com/office/drawing/2014/main" val="2173794096"/>
                  </a:ext>
                </a:extLst>
              </a:tr>
              <a:tr h="22853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Magnetometer (HSCDTD008A)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650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extLst>
                  <a:ext uri="{0D108BD9-81ED-4DB2-BD59-A6C34878D82A}">
                    <a16:rowId xmlns:a16="http://schemas.microsoft.com/office/drawing/2014/main" val="540712321"/>
                  </a:ext>
                </a:extLst>
              </a:tr>
              <a:tr h="22853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3D Printed chassis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5,400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extLst>
                  <a:ext uri="{0D108BD9-81ED-4DB2-BD59-A6C34878D82A}">
                    <a16:rowId xmlns:a16="http://schemas.microsoft.com/office/drawing/2014/main" val="3335518742"/>
                  </a:ext>
                </a:extLst>
              </a:tr>
              <a:tr h="22853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Caster wheels x 2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1,920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extLst>
                  <a:ext uri="{0D108BD9-81ED-4DB2-BD59-A6C34878D82A}">
                    <a16:rowId xmlns:a16="http://schemas.microsoft.com/office/drawing/2014/main" val="1879307181"/>
                  </a:ext>
                </a:extLst>
              </a:tr>
              <a:tr h="22853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Wheels x 2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3,000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extLst>
                  <a:ext uri="{0D108BD9-81ED-4DB2-BD59-A6C34878D82A}">
                    <a16:rowId xmlns:a16="http://schemas.microsoft.com/office/drawing/2014/main" val="2459804890"/>
                  </a:ext>
                </a:extLst>
              </a:tr>
              <a:tr h="22853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A4988 Drivers x 2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500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extLst>
                  <a:ext uri="{0D108BD9-81ED-4DB2-BD59-A6C34878D82A}">
                    <a16:rowId xmlns:a16="http://schemas.microsoft.com/office/drawing/2014/main" val="3905165180"/>
                  </a:ext>
                </a:extLst>
              </a:tr>
              <a:tr h="22853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Couplings x 3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1000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extLst>
                  <a:ext uri="{0D108BD9-81ED-4DB2-BD59-A6C34878D82A}">
                    <a16:rowId xmlns:a16="http://schemas.microsoft.com/office/drawing/2014/main" val="3733026944"/>
                  </a:ext>
                </a:extLst>
              </a:tr>
              <a:tr h="39350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Other (connecting wires, Adhesives, Tools, nut and bolts, cables, pipes, etc.)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7000</a:t>
                      </a:r>
                      <a:endParaRPr lang="en-U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extLst>
                  <a:ext uri="{0D108BD9-81ED-4DB2-BD59-A6C34878D82A}">
                    <a16:rowId xmlns:a16="http://schemas.microsoft.com/office/drawing/2014/main" val="3044009741"/>
                  </a:ext>
                </a:extLst>
              </a:tr>
              <a:tr h="22853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</a:rPr>
                        <a:t>Total </a:t>
                      </a:r>
                      <a:endParaRPr lang="en-US" sz="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dirty="0">
                          <a:effectLst/>
                        </a:rPr>
                        <a:t>28,000</a:t>
                      </a:r>
                      <a:endParaRPr lang="en-US" sz="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33" marR="61433" marT="30717" marB="30717" anchor="ctr"/>
                </a:tc>
                <a:extLst>
                  <a:ext uri="{0D108BD9-81ED-4DB2-BD59-A6C34878D82A}">
                    <a16:rowId xmlns:a16="http://schemas.microsoft.com/office/drawing/2014/main" val="2280784650"/>
                  </a:ext>
                </a:extLst>
              </a:tr>
            </a:tbl>
          </a:graphicData>
        </a:graphic>
      </p:graphicFrame>
      <p:sp>
        <p:nvSpPr>
          <p:cNvPr id="14" name="Rectangle 3">
            <a:extLst>
              <a:ext uri="{FF2B5EF4-FFF2-40B4-BE49-F238E27FC236}">
                <a16:creationId xmlns:a16="http://schemas.microsoft.com/office/drawing/2014/main" id="{6DDA8DBD-951C-4EFA-0DC0-A46052335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3700" y="22860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212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7774A-2443-0A96-9C60-5B198D30E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&amp;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A785E-D9CD-F233-F7F0-00ABA563F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Initially (without DC motor, PWM controller, Relay), direction stabilization could be able to perform using the magnetometer sensor. </a:t>
            </a:r>
          </a:p>
          <a:p>
            <a:r>
              <a:rPr lang="en-US" dirty="0"/>
              <a:t>But with the noise added(In new setup), robot could not identify the specific directions to follow and align.  </a:t>
            </a:r>
          </a:p>
          <a:p>
            <a:r>
              <a:rPr lang="en-US" dirty="0"/>
              <a:t>Therefore, magnetometer was not used for the final prototype.</a:t>
            </a:r>
          </a:p>
          <a:p>
            <a:r>
              <a:rPr lang="en-US" dirty="0"/>
              <a:t>Due to that, robot makes deviations from the path it has to follow. (weight imbalances, uneven rotations of the two wheels, battery percentage also affects this).</a:t>
            </a:r>
          </a:p>
          <a:p>
            <a:r>
              <a:rPr lang="en-US"/>
              <a:t>Distances can be inaccurate (up to 10 cm) and accuracy also depends upon the ground, battery percentage etc. </a:t>
            </a:r>
            <a:endParaRPr lang="en-US" dirty="0"/>
          </a:p>
          <a:p>
            <a:r>
              <a:rPr lang="en-US" dirty="0"/>
              <a:t>Also, when controlling the robot through Blynk Application (or website), there can be a latency. Depends upon the speed of the internet connection.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F1AC1-7F74-EB92-FC5B-9491ECAAF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B56D-5955-404B-A1BD-C9ACD737899A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AC2E2-66E7-BBF2-7A3E-F9D4D71E4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Mechatronic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F106A-5605-E1F6-5CD6-74A91AD5A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5992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36C3C-E4EE-43D9-D761-30B845A87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Product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36F88-BE3E-B57E-71A5-BD9267501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B56D-5955-404B-A1BD-C9ACD737899A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9D982-85AE-D821-2AD9-8B35A845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Mechatronic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DA4F4-F2B5-9B29-914B-74BA96BCD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22</a:t>
            </a:fld>
            <a:endParaRPr lang="en-US"/>
          </a:p>
        </p:txBody>
      </p:sp>
      <p:pic>
        <p:nvPicPr>
          <p:cNvPr id="7" name="Content Placeholder 6" descr="A machine with pipes and wires&#10;&#10;AI-generated content may be incorrect.">
            <a:extLst>
              <a:ext uri="{FF2B5EF4-FFF2-40B4-BE49-F238E27FC236}">
                <a16:creationId xmlns:a16="http://schemas.microsoft.com/office/drawing/2014/main" id="{2D0E8BA9-C85D-F015-3CFB-9A0E58429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1850" y="1638300"/>
            <a:ext cx="48207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6038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DA2BA-AF1C-1787-8ADC-F8EBA9C79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" panose="020406040505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3B1AE-AD36-DD0A-7740-10CD1A623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25601"/>
            <a:ext cx="9601200" cy="482778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/>
              <a:t>[1]. </a:t>
            </a:r>
            <a:r>
              <a:rPr lang="en-US" sz="1600" dirty="0" err="1"/>
              <a:t>Bysani</a:t>
            </a:r>
            <a:r>
              <a:rPr lang="en-US" sz="1600" dirty="0"/>
              <a:t> Sai Yaswanth, N. Pruthvi Raj, B. P. Rahul, V. M. Moger, and T. Venkatesh, “Solar Power Based Agriculture Robot for Pesticide Spraying, Grass Cutting and Seed Sowing,” </a:t>
            </a:r>
            <a:r>
              <a:rPr lang="en-US" sz="1600" i="1" dirty="0"/>
              <a:t>Lecture notes in electrical engineering</a:t>
            </a:r>
            <a:r>
              <a:rPr lang="en-US" sz="1600" dirty="0"/>
              <a:t>, pp. 795–805, Jan. 2022, </a:t>
            </a:r>
            <a:r>
              <a:rPr lang="en-US" sz="1600" dirty="0" err="1"/>
              <a:t>doi</a:t>
            </a:r>
            <a:r>
              <a:rPr lang="en-US" sz="1600" dirty="0"/>
              <a:t>: </a:t>
            </a:r>
            <a:r>
              <a:rPr lang="en-US" sz="1600" dirty="0">
                <a:hlinkClick r:id="rId2"/>
              </a:rPr>
              <a:t>https://doi.org/10.1007/978-981-19-2281-7_73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dirty="0"/>
              <a:t>[2] (PDF) development of dual-Mode Grass Cutter Robot, https://www.researchgate.net/publication/362736534_Development_of_Dual-Mode_Grass_Cutter_Robot (accessed Jun. 15, 2025). </a:t>
            </a:r>
          </a:p>
          <a:p>
            <a:pPr marL="0" indent="0">
              <a:buNone/>
            </a:pPr>
            <a:r>
              <a:rPr lang="en-US" sz="1600" dirty="0"/>
              <a:t>[3]. N. Herrera and R. Luciano, “Design And Development Of Android-Controlled Grass Cutting Robot Using RPA Method.” Accessed: Jul. 31, 2025. [Online]. Available: </a:t>
            </a:r>
            <a:r>
              <a:rPr lang="en-US" sz="1600" dirty="0">
                <a:hlinkClick r:id="rId3"/>
              </a:rPr>
              <a:t>https://ijstr.org/final-print/mar2020/Design-And-Development-Of-Android-controlled-Grass-Cutting-Robot-Using-Rpa-Method.pdf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[4] F. Jemisha, S. S. Jothi, R. S. Priyanka, and E. Ramola, “Smart Solar Agriculture Grass Cutting Robot,” </a:t>
            </a:r>
            <a:r>
              <a:rPr lang="en-US" sz="1600" i="1" dirty="0"/>
              <a:t>Mediterranean Journal of Basic and Applied Sciences</a:t>
            </a:r>
            <a:r>
              <a:rPr lang="en-US" sz="1600" dirty="0"/>
              <a:t>, vol. 07, no. 02, pp. 41–47, 2023, </a:t>
            </a:r>
            <a:r>
              <a:rPr lang="en-US" sz="1600" dirty="0" err="1"/>
              <a:t>doi</a:t>
            </a:r>
            <a:r>
              <a:rPr lang="en-US" sz="1600" dirty="0"/>
              <a:t>: </a:t>
            </a:r>
            <a:r>
              <a:rPr lang="en-US" sz="1600" dirty="0">
                <a:hlinkClick r:id="rId4"/>
              </a:rPr>
              <a:t>https://doi.org/10.46382/mjbas.2023.7206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dirty="0"/>
              <a:t>[5] F. van Oudtshoorn, “Grasses and Grassland Ecology,” </a:t>
            </a:r>
            <a:r>
              <a:rPr lang="en-US" sz="1600" i="1" dirty="0"/>
              <a:t>African Journal of Range &amp; Forage Science</a:t>
            </a:r>
            <a:r>
              <a:rPr lang="en-US" sz="1600" dirty="0"/>
              <a:t>, vol. 27, no. 1, pp. 63–64, Apr. 2010, </a:t>
            </a:r>
            <a:r>
              <a:rPr lang="en-US" sz="1600" dirty="0" err="1"/>
              <a:t>doi</a:t>
            </a:r>
            <a:r>
              <a:rPr lang="en-US" sz="1600" dirty="0"/>
              <a:t>: </a:t>
            </a:r>
            <a:r>
              <a:rPr lang="en-US" sz="1600" dirty="0">
                <a:hlinkClick r:id="rId5"/>
              </a:rPr>
              <a:t>https://doi.org/10.2989/10220111003703542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dirty="0"/>
              <a:t> </a:t>
            </a:r>
          </a:p>
          <a:p>
            <a:pPr marL="0" indent="0">
              <a:buNone/>
            </a:pPr>
            <a:r>
              <a:rPr lang="en-US" sz="1600" dirty="0"/>
              <a:t>[6]. M. J. </a:t>
            </a:r>
            <a:r>
              <a:rPr lang="en-US" sz="1600" dirty="0" err="1"/>
              <a:t>O’Dogherty</a:t>
            </a:r>
            <a:r>
              <a:rPr lang="en-US" sz="1600" dirty="0"/>
              <a:t> and G. E. Gale, “Laboratory studies of the cutting of grass stems,” </a:t>
            </a:r>
            <a:r>
              <a:rPr lang="en-US" sz="1600" i="1" dirty="0"/>
              <a:t>Journal of Agricultural Engineering Research</a:t>
            </a:r>
            <a:r>
              <a:rPr lang="en-US" sz="1600" dirty="0"/>
              <a:t>, vol. 35, no. 2, pp. 115–129, Oct. 1986, </a:t>
            </a:r>
            <a:r>
              <a:rPr lang="en-US" sz="1600" dirty="0" err="1"/>
              <a:t>doi</a:t>
            </a:r>
            <a:r>
              <a:rPr lang="en-US" sz="1600" dirty="0"/>
              <a:t>: </a:t>
            </a:r>
            <a:r>
              <a:rPr lang="en-US" sz="1600" dirty="0">
                <a:hlinkClick r:id="rId6"/>
              </a:rPr>
              <a:t>https://doi.org/10.1016/0021-8634(86)90033-8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dirty="0"/>
              <a:t>[7</a:t>
            </a:r>
            <a:r>
              <a:rPr lang="en-US" sz="1500" dirty="0"/>
              <a:t>]. “Handson Technology Data Specs 17HS4401S 1.7A Torque:43N.cm Stepper Motor.” Available: </a:t>
            </a:r>
            <a:r>
              <a:rPr lang="en-US" sz="1500" dirty="0">
                <a:hlinkClick r:id="rId7"/>
              </a:rPr>
              <a:t>https://www.handsontec.com/dataspecs/17HS4401S.pdf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C742A-655E-4595-E045-D66BAB4A0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CD4D7-BECA-4011-9C5D-76A8C3EB865A}" type="datetime1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59CB7-7F3E-70A5-402D-F341E6CD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Individual Mechatronic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1EA61-0FF1-77DC-49A5-34CF8E7AC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59231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E3F75180-FCAF-4ACF-BE89-6A6D5DC1FD74}" vid="{590F9D33-5B84-4F51-95A7-845353C61D0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893</TotalTime>
  <Words>1664</Words>
  <Application>Microsoft Office PowerPoint</Application>
  <PresentationFormat>Widescreen</PresentationFormat>
  <Paragraphs>295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Calibri</vt:lpstr>
      <vt:lpstr>Century</vt:lpstr>
      <vt:lpstr>Franklin Gothic Book</vt:lpstr>
      <vt:lpstr>Times New Roman</vt:lpstr>
      <vt:lpstr>Theme1</vt:lpstr>
      <vt:lpstr>Autonomous grass-cutting robot with obstacle avoidance and remote Controlling</vt:lpstr>
      <vt:lpstr>Content of the Presentation</vt:lpstr>
      <vt:lpstr>Introduction</vt:lpstr>
      <vt:lpstr>Aim of the Project</vt:lpstr>
      <vt:lpstr>Objectives</vt:lpstr>
      <vt:lpstr>Literature Review</vt:lpstr>
      <vt:lpstr>Methodology</vt:lpstr>
      <vt:lpstr>Methodology</vt:lpstr>
      <vt:lpstr>Methodology</vt:lpstr>
      <vt:lpstr>Methodology</vt:lpstr>
      <vt:lpstr>Methodology</vt:lpstr>
      <vt:lpstr>Mechanical Design chassis</vt:lpstr>
      <vt:lpstr>Mechanical Design chassis</vt:lpstr>
      <vt:lpstr>Simulations FEA</vt:lpstr>
      <vt:lpstr>Simulations For stepper Motor Control</vt:lpstr>
      <vt:lpstr>Calculations</vt:lpstr>
      <vt:lpstr>Calculations</vt:lpstr>
      <vt:lpstr>Calculations</vt:lpstr>
      <vt:lpstr>Calculations</vt:lpstr>
      <vt:lpstr>Budget</vt:lpstr>
      <vt:lpstr>Testing &amp; Validation</vt:lpstr>
      <vt:lpstr>Final Product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sanika wijayasekara</dc:creator>
  <cp:lastModifiedBy>RV Bihara Sansindi</cp:lastModifiedBy>
  <cp:revision>176</cp:revision>
  <dcterms:created xsi:type="dcterms:W3CDTF">2019-11-25T10:43:00Z</dcterms:created>
  <dcterms:modified xsi:type="dcterms:W3CDTF">2025-08-29T12:42:34Z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1033-11.2.0.10176</vt:lpwstr>
  </property>
</Properties>
</file>